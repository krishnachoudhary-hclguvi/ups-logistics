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– 0:20]</a:t>
            </a:r>
          </a:p>
          <a:p/>
          <a:p>
            <a:r>
              <a:t>People are booking packages on a legitimate shipper’s account. Today that is found after delivery, when the carrier has already paid for the trip.</a:t>
            </a:r>
          </a:p>
          <a:p/>
          <a:p>
            <a:r>
              <a:t>We put a risk check on the confirm step, before the label exists. Problem, where it sits, the approach, the build, and the impact.</a:t>
            </a:r>
          </a:p>
          <a:p/>
          <a:p>
            <a:r>
              <a:t>[Add team names on this slide before you present.]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[0:20 – 1:05]</a:t>
            </a:r>
          </a:p>
          <a:p/>
          <a:p>
            <a:r>
              <a:t>Three steps. Someone books with a real shipper’s account. The label prints, and the package is picked up, sorted, and delivered.</a:t>
            </a:r>
          </a:p>
          <a:p/>
          <a:p>
            <a:r>
              <a:t>It is named after delivery — from the shipping pattern, or when the real shipper says, “I did not ship this.”</a:t>
            </a:r>
          </a:p>
          <a:p/>
          <a:p>
            <a:r>
              <a:t>The carrier removes the charge. The customer is protected. The freight revenue and the cost of the movement stay with the carrier.</a:t>
            </a:r>
          </a:p>
          <a:p/>
          <a:p>
            <a:r>
              <a:t>We need a decision before the package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[1:05 – 1:45]</a:t>
            </a:r>
          </a:p>
          <a:p/>
          <a:p>
            <a:r>
              <a:t>This is already an industry problem. Carriers protect account numbers, investigate bad charges, and take incorrect invoices off the account. Shippers can deny inbound and third-party billing.</a:t>
            </a:r>
          </a:p>
          <a:p/>
          <a:p>
            <a:r>
              <a:t>Those controls sit on the invoice, or in a preference the shipper has to turn on. The package has moved, or the control never fires.</a:t>
            </a:r>
          </a:p>
          <a:p/>
          <a:p>
            <a:r>
              <a:t>The gap is the booking moment. On the public UPS ship page, nothing is in the network until confirm issues the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[1:45 – 2:35]</a:t>
            </a:r>
          </a:p>
          <a:p/>
          <a:p>
            <a:r>
              <a:t>Origin, destination, package, service. Rating returns a price. Nothing has shipped. Payment is where a UPS account is attached — shipper, receiver, or third party.</a:t>
            </a:r>
          </a:p>
          <a:p/>
          <a:p>
            <a:r>
              <a:t>Confirm issues the 1Z and the label. Pickup and sort follow that label. The engine is a synchronous call inside confirm. Allow prints the label. Step-up, hold, and block do not.</a:t>
            </a:r>
          </a:p>
          <a:p/>
          <a:p>
            <a:r>
              <a:t>The tx on the page is the id we store with the decision. Start on this website, then the same call on the Shipping API and desktop tools. A block on the website alone just moves the booking.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[2:35 – 3:10]</a:t>
            </a:r>
          </a:p>
          <a:p/>
          <a:p>
            <a:r>
              <a:t>The brief has nine capabilities. Five have to finish before the label: screen the booking, compare it with this account’s history, check identity against the account, score it, and choose an action.</a:t>
            </a:r>
          </a:p>
          <a:p/>
          <a:p>
            <a:r>
              <a:t>Four can finish after: the plain-language note, false-positive control, the integrations, and the audit record. GenAI is in that second group. It does not sit in front of the label printer.</a:t>
            </a:r>
          </a:p>
          <a:p/>
          <a:p>
            <a:r>
              <a:t>Point left, then right. Do not read every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[3:10 – 3:55]</a:t>
            </a:r>
          </a:p>
          <a:p/>
          <a:p>
            <a:r>
              <a:t>Four choices make this specific.</a:t>
            </a:r>
          </a:p>
          <a:p/>
          <a:p>
            <a:r>
              <a:t>The baseline is the victim account: its own origins, lanes, services, weight, and weekly pace. A network average flags a busy legitimate exporter and misses a quiet account’s first bad booking.</a:t>
            </a:r>
          </a:p>
          <a:p/>
          <a:p>
            <a:r>
              <a:t>The deny-list the shipper already has in billing becomes a block at confirm.</a:t>
            </a:r>
          </a:p>
          <a:p/>
          <a:p>
            <a:r>
              <a:t>The language model writes the analyst note from reason codes. It does not choose the action, so the decision stays repeatable.</a:t>
            </a:r>
          </a:p>
          <a:p/>
          <a:p>
            <a:r>
              <a:t>And we log in shadow, and grade against later disputes, before any live shipper is held.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[3:55 – 4:50]</a:t>
            </a:r>
          </a:p>
          <a:p/>
          <a:p>
            <a:r>
              <a:t>One endpoint, called by confirm. Inputs: the booking, a nightly 90-day snapshot of that account, and the inbound-charge policy.</a:t>
            </a:r>
          </a:p>
          <a:p/>
          <a:p>
            <a:r>
              <a:t>Five rules. Deny-list or a closed account blocks. A new payer outside the account’s origins holds. A new express or international lane, when this account ships domestic ground, holds. A burst above the weekly pace holds. A guest billing an unlinked account is a step-up.</a:t>
            </a:r>
          </a:p>
          <a:p/>
          <a:p>
            <a:r>
              <a:t>Account-billed only: shipper, receiver, or third party. Card payments are a different loss.</a:t>
            </a:r>
          </a:p>
          <a:p/>
          <a:p>
            <a:r>
              <a:t>Later, a gradient-boosted model scores the same features. Rules still override. GenAI turns the codes into a short analyst note, stored with the decision. If the language model is down, the codes still 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[4:50 – 5:30]</a:t>
            </a:r>
          </a:p>
          <a:p/>
          <a:p>
            <a:r>
              <a:t>Thresholds are per account. Express is normal for an account whose history is express.</a:t>
            </a:r>
          </a:p>
          <a:p/>
          <a:p>
            <a:r>
              <a:t>A new account has no pattern to break. Thin history is a step-up, not a block.</a:t>
            </a:r>
          </a:p>
          <a:p/>
          <a:p>
            <a:r>
              <a:t>Auto-block is only the deny-list or a closed account. A high score holds for a person.</a:t>
            </a:r>
          </a:p>
          <a:p/>
          <a:p>
            <a:r>
              <a:t>Step-up reuses a proof UPS already uses to link an account: postal code, plus a figure from a recent invoice. The owner can pass it. A stranger with only the account number usually cannot.</a:t>
            </a:r>
          </a:p>
          <a:p/>
          <a:p>
            <a:r>
              <a:t>If challenged on customer impact: we would rather miss a fraud in the pilot than hold a legitimate shipper at confirm.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[5:30 – 6:15]</a:t>
            </a:r>
          </a:p>
          <a:p/>
          <a:p>
            <a:r>
              <a:t>Slice zero is one endpoint, five rules, and a log. Confirm calls it. The shipper sees no change. We can build that on sample bookings before any live hookup.</a:t>
            </a:r>
          </a:p>
          <a:p/>
          <a:p>
            <a:r>
              <a:t>Then step-up and same-day hold. Then the model and the note, once dispute labels exist. Then the same call on every other channel that prints a label.</a:t>
            </a:r>
          </a:p>
          <a:p/>
          <a:p>
            <a:r>
              <a:t>Three feeds: account master, 90-day history, and billing disputes. The hard part is the confirm button asking the question, and disputes coming back to grade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[6:15 – 7:00]</a:t>
            </a:r>
          </a:p>
          <a:p/>
          <a:p>
            <a:r>
              <a:t>If the gate works, that package is never tendered. No reversed invoice, no linehaul, and the real shipper never sees the charge. The analyst opens a reason, not a raw score.</a:t>
            </a:r>
          </a:p>
          <a:p/>
          <a:p>
            <a:r>
              <a:t>No rupee figure. A hold is not a saving until a review confirms it was fraud. Measure two rates: of later disputes, how many we would have held; of clean shipments, how many we would have held.</a:t>
            </a:r>
          </a:p>
          <a:p/>
          <a:p>
            <a:r>
              <a:t>Prevent the movement. Then explain it.</a:t>
            </a:r>
          </a:p>
          <a:p/>
          <a:p>
            <a:r>
              <a:t>Stop. Invite questions. The last slide is backup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present this slide in the 7 minutes. Use it when a question matches.</a:t>
            </a:r>
          </a:p>
          <a:p/>
          <a:p>
            <a:r>
              <a:t>If the question is not on this page, answer in one breath and bridge back to three points: the gate is on confirm, the baseline is the victim account, and shadow mode comes before any customer friction.</a:t>
            </a:r>
          </a:p>
          <a:p/>
          <a:p>
            <a:r>
              <a:t>Reason-code names if an engineer asks:</a:t>
            </a:r>
          </a:p>
          <a:p>
            <a:r>
              <a:t>INBOUND_POLICY_DENY → block</a:t>
            </a:r>
          </a:p>
          <a:p>
            <a:r>
              <a:t>NEW_PAYER_RELATIONSHIP → hold</a:t>
            </a:r>
          </a:p>
          <a:p>
            <a:r>
              <a:t>ORIGIN_LANE_SHIFT → hold</a:t>
            </a:r>
          </a:p>
          <a:p>
            <a:r>
              <a:t>VELOCITY_SPIKE → hold</a:t>
            </a:r>
          </a:p>
          <a:p>
            <a:r>
              <a:t>UNLINKED_ACCOUNT_ON_GUEST → step-up</a:t>
            </a:r>
          </a:p>
          <a:p/>
          <a:p>
            <a:r>
              <a:t>Endpoint: POST /v1/booking-risk</a:t>
            </a:r>
          </a:p>
          <a:p>
            <a:r>
              <a:t>Idempotency key: the tx session id on the ship page.</a:t>
            </a:r>
          </a:p>
          <a:p>
            <a:r>
              <a:t>Population: bill shipper, bill receiver, third party. Card payments are out of version one.</a:t>
            </a:r>
          </a:p>
          <a:p>
            <a:r>
              <a:t>GenAI input: reason codes plus feature gaps. Output stored with the decision id. Never on the synchronous path.</a:t>
            </a:r>
          </a:p>
          <a:p/>
          <a:p>
            <a:r>
              <a:t>If they ask for a prototype next: slice zero on sample account histories, shadow decisions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A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2A31B"/>
                </a:solidFill>
                <a:latin typeface="Calibri"/>
                <a:ea typeface="Calibri"/>
                <a:cs typeface="Calibri"/>
              </a:rPr>
              <a:t>ROUND 1   ·   IDEA &amp; SOLUTION DESIGN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10972800" cy="1737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7F1E8"/>
                </a:solidFill>
                <a:latin typeface="Calibri"/>
                <a:ea typeface="Calibri"/>
                <a:cs typeface="Calibri"/>
              </a:rPr>
              <a:t>Stop the shipment
before the label exists.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3337560"/>
            <a:ext cx="1554480" cy="41148"/>
          </a:xfrm>
          <a:prstGeom prst="rect">
            <a:avLst/>
          </a:prstGeom>
          <a:solidFill>
            <a:srgbClr val="E2A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566160"/>
            <a:ext cx="859536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E4D5C4"/>
                </a:solidFill>
                <a:latin typeface="Calibri"/>
                <a:ea typeface="Calibri"/>
                <a:cs typeface="Calibri"/>
              </a:rPr>
              <a:t>A real-time fraud check for packages booked on a legitimate
shipper’s UPS account — at confirm, before the label is issued.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074920"/>
            <a:ext cx="2697480" cy="1051560"/>
          </a:xfrm>
          <a:prstGeom prst="roundRect">
            <a:avLst>
              <a:gd name="adj" fmla="val 12000"/>
            </a:avLst>
          </a:prstGeom>
          <a:solidFill>
            <a:srgbClr val="3A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21208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1E8"/>
                </a:solidFill>
                <a:latin typeface="Calibri"/>
                <a:ea typeface="Calibri"/>
                <a:cs typeface="Calibri"/>
              </a:rPr>
              <a:t>3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596128"/>
            <a:ext cx="23317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DBBA6"/>
                </a:solidFill>
                <a:latin typeface="Calibri"/>
                <a:ea typeface="Calibri"/>
                <a:cs typeface="Calibri"/>
              </a:rPr>
              <a:t>1:00 PM  ·  25 marks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5074920"/>
            <a:ext cx="2697480" cy="1051560"/>
          </a:xfrm>
          <a:prstGeom prst="roundRect">
            <a:avLst>
              <a:gd name="adj" fmla="val 12000"/>
            </a:avLst>
          </a:prstGeom>
          <a:solidFill>
            <a:srgbClr val="3A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521208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1E8"/>
                </a:solidFill>
                <a:latin typeface="Calibri"/>
                <a:ea typeface="Calibri"/>
                <a:cs typeface="Calibri"/>
              </a:rPr>
              <a:t>7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5596128"/>
            <a:ext cx="23317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DBBA6"/>
                </a:solidFill>
                <a:latin typeface="Calibri"/>
                <a:ea typeface="Calibri"/>
                <a:cs typeface="Calibri"/>
              </a:rPr>
              <a:t>Presentation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5074920"/>
            <a:ext cx="2697480" cy="1051560"/>
          </a:xfrm>
          <a:prstGeom prst="roundRect">
            <a:avLst>
              <a:gd name="adj" fmla="val 12000"/>
            </a:avLst>
          </a:prstGeom>
          <a:solidFill>
            <a:srgbClr val="3A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521208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1E8"/>
                </a:solidFill>
                <a:latin typeface="Calibri"/>
                <a:ea typeface="Calibri"/>
                <a:cs typeface="Calibri"/>
              </a:rPr>
              <a:t>3 minutes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5596128"/>
            <a:ext cx="23317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DBBA6"/>
                </a:solidFill>
                <a:latin typeface="Calibri"/>
                <a:ea typeface="Calibri"/>
                <a:cs typeface="Calibri"/>
              </a:rPr>
              <a:t>Questions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2A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PROBLEM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93776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The package is delivered before the fraud is named.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51052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7B70"/>
                </a:solidFill>
                <a:latin typeface="Calibri"/>
                <a:ea typeface="Calibri"/>
                <a:cs typeface="Calibri"/>
              </a:rPr>
              <a:t>Booking-time fraud detection  ·  Round 1 idea &amp; solution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7B70"/>
                </a:solidFill>
                <a:latin typeface="Calibri"/>
                <a:ea typeface="Calibri"/>
                <a:cs typeface="Calibri"/>
              </a:rPr>
              <a:t>02  /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371600"/>
            <a:ext cx="112928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73152" bIns="73152"/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4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01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22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Booked on a real identity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500" b="0" i="0">
                <a:solidFill>
                  <a:srgbClr val="3A312B"/>
                </a:solidFill>
                <a:latin typeface="Calibri"/>
                <a:ea typeface="Calibri"/>
                <a:cs typeface="Calibri"/>
              </a:rPr>
              <a:t>A fraudulent shipper uses a legitimate account number, login, or payment identity to create the shipment.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2880360"/>
            <a:ext cx="112928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73152" bIns="73152"/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4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02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22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Found only after delivery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500" b="0" i="0">
                <a:solidFill>
                  <a:srgbClr val="3A312B"/>
                </a:solidFill>
                <a:latin typeface="Calibri"/>
                <a:ea typeface="Calibri"/>
                <a:cs typeface="Calibri"/>
              </a:rPr>
              <a:t>Detection today is shipping-pattern analysis and related signals — after the package has moved.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4389120"/>
            <a:ext cx="112928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73152" bIns="73152"/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4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03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22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The carrier keeps the loss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500" b="0" i="0">
                <a:solidFill>
                  <a:srgbClr val="3A312B"/>
                </a:solidFill>
                <a:latin typeface="Calibri"/>
                <a:ea typeface="Calibri"/>
                <a:cs typeface="Calibri"/>
              </a:rPr>
              <a:t>The real shipper is protected and the charge is removed. Goodwill survives. Revenue and operating cost do not.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2A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INDUSTRY RELEVANCE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93776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The industry stops the invoice. It does not stop the booking.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51052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7B70"/>
                </a:solidFill>
                <a:latin typeface="Calibri"/>
                <a:ea typeface="Calibri"/>
                <a:cs typeface="Calibri"/>
              </a:rPr>
              <a:t>Booking-time fraud detection  ·  Round 1 idea &amp; solution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7B70"/>
                </a:solidFill>
                <a:latin typeface="Calibri"/>
                <a:ea typeface="Calibri"/>
                <a:cs typeface="Calibri"/>
              </a:rPr>
              <a:t>03  /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554480"/>
            <a:ext cx="553212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WHAT CARRIERS ALREADY DO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Protect account numbers and investigate irregular charges.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Let shippers deny inbound and third-party billing, with an exception list.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Remove incorrect charges after a dispute, to keep the customer.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Use trend analysis once shipments have already moved.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54480"/>
            <a:ext cx="5559552" cy="4526280"/>
          </a:xfrm>
          <a:prstGeom prst="roundRect">
            <a:avLst>
              <a:gd name="adj" fmla="val 6000"/>
            </a:avLst>
          </a:prstGeom>
          <a:solidFill>
            <a:srgbClr val="2A1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2A31B"/>
                </a:solidFill>
                <a:latin typeface="Calibri"/>
                <a:ea typeface="Calibri"/>
                <a:cs typeface="Calibri"/>
              </a:rPr>
              <a:t>WHAT IS STILL OPEN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F7F1E8"/>
                </a:solidFill>
                <a:latin typeface="Calibri"/>
                <a:ea typeface="Calibri"/>
                <a:cs typeface="Calibri"/>
              </a:rPr>
              <a:t>A yes or no at the moment of booking.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F7F1E8"/>
                </a:solidFill>
                <a:latin typeface="Calibri"/>
                <a:ea typeface="Calibri"/>
                <a:cs typeface="Calibri"/>
              </a:rPr>
              <a:t>A comparison with that account’s own history, not a network average.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F7F1E8"/>
                </a:solidFill>
                <a:latin typeface="Calibri"/>
                <a:ea typeface="Calibri"/>
                <a:cs typeface="Calibri"/>
              </a:rPr>
              <a:t>A hold before pickup, sort, and delivery.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F7F1E8"/>
                </a:solidFill>
                <a:latin typeface="Calibri"/>
                <a:ea typeface="Calibri"/>
                <a:cs typeface="Calibri"/>
              </a:rPr>
              <a:t>Enforcement of the deny-list even when the booker never asks.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2A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WHERE THE ENGINE SITS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93776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Confirm is the last moment the package is still an idea.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51052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7B70"/>
                </a:solidFill>
                <a:latin typeface="Calibri"/>
                <a:ea typeface="Calibri"/>
                <a:cs typeface="Calibri"/>
              </a:rPr>
              <a:t>Booking-time fraud detection  ·  Round 1 idea &amp; solution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7B70"/>
                </a:solidFill>
                <a:latin typeface="Calibri"/>
                <a:ea typeface="Calibri"/>
                <a:cs typeface="Calibri"/>
              </a:rPr>
              <a:t>04  /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417320"/>
            <a:ext cx="17373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6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Ship from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57984" y="1581912"/>
            <a:ext cx="16459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417320"/>
            <a:ext cx="17373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6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Ship 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5072" y="1581912"/>
            <a:ext cx="16459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3087" y="1417320"/>
            <a:ext cx="17373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6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Package
&amp;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581912"/>
            <a:ext cx="16459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0176" y="1417320"/>
            <a:ext cx="17373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6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Bill a UPS
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1581912"/>
            <a:ext cx="16459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27264" y="1417320"/>
            <a:ext cx="1737360" cy="713232"/>
          </a:xfrm>
          <a:prstGeom prst="roundRect">
            <a:avLst>
              <a:gd name="adj" fmla="val 15000"/>
            </a:avLst>
          </a:prstGeom>
          <a:solidFill>
            <a:srgbClr val="2A1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2A31B"/>
                </a:solidFill>
                <a:latin typeface="Calibri"/>
                <a:ea typeface="Calibri"/>
                <a:cs typeface="Calibri"/>
              </a:rPr>
              <a:t>Confirm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46336" y="1581912"/>
            <a:ext cx="16459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74352" y="1417320"/>
            <a:ext cx="1737360" cy="713232"/>
          </a:xfrm>
          <a:prstGeom prst="roundRect">
            <a:avLst>
              <a:gd name="adj" fmla="val 15000"/>
            </a:avLst>
          </a:prstGeom>
          <a:solidFill>
            <a:srgbClr val="F6F1E8"/>
          </a:solidFill>
          <a:ln w="15875">
            <a:solidFill>
              <a:srgbClr val="C4B5A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F645C"/>
                </a:solidFill>
                <a:latin typeface="Calibri"/>
                <a:ea typeface="Calibri"/>
                <a:cs typeface="Calibri"/>
              </a:rPr>
              <a:t>Label / 1Z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2267712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F645C"/>
                </a:solidFill>
                <a:latin typeface="Calibri"/>
                <a:ea typeface="Calibri"/>
                <a:cs typeface="Calibri"/>
              </a:rPr>
              <a:t>The risk check runs inside Confirm. The label is created only after Allow.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" y="2724912"/>
            <a:ext cx="2788920" cy="233172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6B45"/>
                </a:solidFill>
                <a:latin typeface="Calibri"/>
                <a:ea typeface="Calibri"/>
                <a:cs typeface="Calibri"/>
              </a:rPr>
              <a:t>ALLOW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400" b="0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Looks like this account’s normal origin, lane, service, and pace.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Label prints.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" y="2724912"/>
            <a:ext cx="2788920" cy="73152"/>
          </a:xfrm>
          <a:prstGeom prst="rect">
            <a:avLst/>
          </a:prstGeom>
          <a:solidFill>
            <a:srgbClr val="1B6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46704" y="2724912"/>
            <a:ext cx="2788920" cy="2331720"/>
          </a:xfrm>
          <a:prstGeom prst="roundRect">
            <a:avLst>
              <a:gd name="adj" fmla="val 8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4A72"/>
                </a:solidFill>
                <a:latin typeface="Calibri"/>
                <a:ea typeface="Calibri"/>
                <a:cs typeface="Calibri"/>
              </a:rPr>
              <a:t>STEP-UP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400" b="0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A guest is billing an account they have not linked.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Prove control, then confirm again.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46704" y="2724912"/>
            <a:ext cx="2788920" cy="73152"/>
          </a:xfrm>
          <a:prstGeom prst="rect">
            <a:avLst/>
          </a:prstGeom>
          <a:solidFill>
            <a:srgbClr val="1A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54496" y="2724912"/>
            <a:ext cx="2788920" cy="2331720"/>
          </a:xfrm>
          <a:prstGeom prst="roundRect">
            <a:avLst>
              <a:gd name="adj" fmla="val 8000"/>
            </a:avLst>
          </a:prstGeom>
          <a:solidFill>
            <a:srgbClr val="FB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F5E0C"/>
                </a:solidFill>
                <a:latin typeface="Calibri"/>
                <a:ea typeface="Calibri"/>
                <a:cs typeface="Calibri"/>
              </a:rPr>
              <a:t>HOLD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400" b="0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New payer, new lane, or a burst of bookings.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No label until a person clears 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54496" y="2724912"/>
            <a:ext cx="2788920" cy="73152"/>
          </a:xfrm>
          <a:prstGeom prst="rect">
            <a:avLst/>
          </a:prstGeom>
          <a:solidFill>
            <a:srgbClr val="8F5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62288" y="2724912"/>
            <a:ext cx="2788920" cy="2331720"/>
          </a:xfrm>
          <a:prstGeom prst="roundRect">
            <a:avLst>
              <a:gd name="adj" fmla="val 8000"/>
            </a:avLst>
          </a:prstGeom>
          <a:solidFill>
            <a:srgbClr val="F8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342E"/>
                </a:solidFill>
                <a:latin typeface="Calibri"/>
                <a:ea typeface="Calibri"/>
                <a:cs typeface="Calibri"/>
              </a:rPr>
              <a:t>BLOCK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400" b="0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The account denies this shipper, or the account is closed.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That account cannot pay.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62288" y="2724912"/>
            <a:ext cx="2788920" cy="73152"/>
          </a:xfrm>
          <a:prstGeom prst="rect">
            <a:avLst/>
          </a:prstGeom>
          <a:solidFill>
            <a:srgbClr val="8E3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8912" y="5212080"/>
            <a:ext cx="11292840" cy="1051560"/>
          </a:xfrm>
          <a:prstGeom prst="roundRect">
            <a:avLst>
              <a:gd name="adj" fmla="val 8000"/>
            </a:avLst>
          </a:prstGeom>
          <a:solidFill>
            <a:srgbClr val="2A1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73152" bIns="73152"/>
          <a:lstStyle/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600" b="1" i="0">
                <a:solidFill>
                  <a:srgbClr val="F7F1E8"/>
                </a:solidFill>
                <a:latin typeface="Calibri"/>
                <a:ea typeface="Calibri"/>
                <a:cs typeface="Calibri"/>
              </a:rPr>
              <a:t>Same gate, every channel that can print a label.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E4D5C4"/>
                </a:solidFill>
                <a:latin typeface="Calibri"/>
                <a:ea typeface="Calibri"/>
                <a:cs typeface="Calibri"/>
              </a:rPr>
              <a:t>Start on the single-page website. Then the Shipping API, WorldShip, CampusShip, and mobile. A block on the website alone just moves the booking.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2A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SOLUTION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93776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Nine capabilities. Only five sit on the booking 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51052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7B70"/>
                </a:solidFill>
                <a:latin typeface="Calibri"/>
                <a:ea typeface="Calibri"/>
                <a:cs typeface="Calibri"/>
              </a:rPr>
              <a:t>Booking-time fraud detection  ·  Round 1 idea &amp; solution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7B70"/>
                </a:solidFill>
                <a:latin typeface="Calibri"/>
                <a:ea typeface="Calibri"/>
                <a:cs typeface="Calibri"/>
              </a:rPr>
              <a:t>05  /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353312"/>
            <a:ext cx="580644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73152" bIns="73152"/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ON THE CONFIRM CALL  ·  SYNCHRONOUS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53312"/>
            <a:ext cx="534924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73152" bIns="73152"/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AFTER THE DECISION  ·  ASYNCHRONOUS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65960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Real-time fraud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240279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F645C"/>
                </a:solidFill>
                <a:latin typeface="Calibri"/>
                <a:ea typeface="Calibri"/>
                <a:cs typeface="Calibri"/>
              </a:rPr>
              <a:t>Score the booking before the label exists.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770632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Behavioral pattern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044951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F645C"/>
                </a:solidFill>
                <a:latin typeface="Calibri"/>
                <a:ea typeface="Calibri"/>
                <a:cs typeface="Calibri"/>
              </a:rPr>
              <a:t>Origin, destination, weight, service, timing, frequency.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575304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Identity and account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849624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F645C"/>
                </a:solidFill>
                <a:latin typeface="Calibri"/>
                <a:ea typeface="Calibri"/>
                <a:cs typeface="Calibri"/>
              </a:rPr>
              <a:t>Login, guest, and billed account have to belong together.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379976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Risk scoring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654296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F645C"/>
                </a:solidFill>
                <a:latin typeface="Calibri"/>
                <a:ea typeface="Calibri"/>
                <a:cs typeface="Calibri"/>
              </a:rPr>
              <a:t>Rules first. A learned score once dispute labels exist.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184648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Action framework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45896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F645C"/>
                </a:solidFill>
                <a:latin typeface="Calibri"/>
                <a:ea typeface="Calibri"/>
                <a:cs typeface="Calibri"/>
              </a:rPr>
              <a:t>Allow, step-up, hold, or block — before tender.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1965960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GenAI explanation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2240279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F645C"/>
                </a:solidFill>
                <a:latin typeface="Calibri"/>
                <a:ea typeface="Calibri"/>
                <a:cs typeface="Calibri"/>
              </a:rPr>
              <a:t>Plain language for the analyst, tied to reason codes.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2926080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False-positive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2" y="32004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F645C"/>
                </a:solidFill>
                <a:latin typeface="Calibri"/>
                <a:ea typeface="Calibri"/>
                <a:cs typeface="Calibri"/>
              </a:rPr>
              <a:t>Per-account baselines. Shadow mode before live friction.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2" y="3886200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2" y="41605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F645C"/>
                </a:solidFill>
                <a:latin typeface="Calibri"/>
                <a:ea typeface="Calibri"/>
                <a:cs typeface="Calibri"/>
              </a:rPr>
              <a:t>Booking, account master, payer type, disputes, analyst queue.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6832" y="4846320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Auditability and compliance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2" y="51206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F645C"/>
                </a:solidFill>
                <a:latin typeface="Calibri"/>
                <a:ea typeface="Calibri"/>
                <a:cs typeface="Calibri"/>
              </a:rPr>
              <a:t>Decision, features, policy version, and reviewer, stored together.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2A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INNOVATION AND ORIGINALITY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93776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Four choices that make this specific to this fraud.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51052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7B70"/>
                </a:solidFill>
                <a:latin typeface="Calibri"/>
                <a:ea typeface="Calibri"/>
                <a:cs typeface="Calibri"/>
              </a:rPr>
              <a:t>Booking-time fraud detection  ·  Round 1 idea &amp; solution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7B70"/>
                </a:solidFill>
                <a:latin typeface="Calibri"/>
                <a:ea typeface="Calibri"/>
                <a:cs typeface="Calibri"/>
              </a:rPr>
              <a:t>06  /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371600"/>
            <a:ext cx="5669280" cy="2212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01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8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The victim account is the baseline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3A312B"/>
                </a:solidFill>
                <a:latin typeface="Calibri"/>
                <a:ea typeface="Calibri"/>
                <a:cs typeface="Calibri"/>
              </a:rPr>
              <a:t>Score this booking against this account’s own origins, lanes, services, weight, and weekly pace.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1371600"/>
            <a:ext cx="5669280" cy="2212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02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8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Shipper policy becomes a live block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3A312B"/>
                </a:solidFill>
                <a:latin typeface="Calibri"/>
                <a:ea typeface="Calibri"/>
                <a:cs typeface="Calibri"/>
              </a:rPr>
              <a:t>The inbound deny-list and exception list already in billing fire at confirm, even if the booker never opted in to a 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3749039"/>
            <a:ext cx="5669280" cy="2212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03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8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GenAI explains. It does not decide.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3A312B"/>
                </a:solidFill>
                <a:latin typeface="Calibri"/>
                <a:ea typeface="Calibri"/>
                <a:cs typeface="Calibri"/>
              </a:rPr>
              <a:t>The action comes from rules and the score. The model writes the analyst note and stores it with the same decision 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3749039"/>
            <a:ext cx="5669280" cy="2212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04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8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Shadow mode before any friction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3A312B"/>
                </a:solidFill>
                <a:latin typeface="Calibri"/>
                <a:ea typeface="Calibri"/>
                <a:cs typeface="Calibri"/>
              </a:rPr>
              <a:t>Log every decision. Grade it against later disputes. Turn on hold and block only where that evidence is strong.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2A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AI / TECHNICAL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93776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Rules decide. A model ranks. GenAI explains.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51052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7B70"/>
                </a:solidFill>
                <a:latin typeface="Calibri"/>
                <a:ea typeface="Calibri"/>
                <a:cs typeface="Calibri"/>
              </a:rPr>
              <a:t>Booking-time fraud detection  ·  Round 1 idea &amp; solution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7B70"/>
                </a:solidFill>
                <a:latin typeface="Calibri"/>
                <a:ea typeface="Calibri"/>
                <a:cs typeface="Calibri"/>
              </a:rPr>
              <a:t>07  /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298448"/>
            <a:ext cx="3703320" cy="2880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INPUTS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Confirm payload: session, payer, origin, destination, weight, service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Nightly account snapshot: 90-day footprint and weekly pace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Inbound-charge policy and the exception 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298448"/>
            <a:ext cx="3703320" cy="2880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DECISION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Policy rules override everything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Behavioral rules for the gray cases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Gradient-boosted score once dispute labels exist, on the same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298448"/>
            <a:ext cx="3703320" cy="2880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RECORD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Allow continues to the label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Step-up, hold, or block stops it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Reason codes, feature values, policy version, and the GenAI note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4297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FIRST FIVE REASON CODES  ·  ACCOUNT-BILLED SHIPMENTS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4645152"/>
            <a:ext cx="2212848" cy="1627632"/>
          </a:xfrm>
          <a:prstGeom prst="roundRect">
            <a:avLst>
              <a:gd name="adj" fmla="val 10000"/>
            </a:avLst>
          </a:prstGeom>
          <a:solidFill>
            <a:srgbClr val="F8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Deny-list hit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600" b="1" i="0">
                <a:solidFill>
                  <a:srgbClr val="8E342E"/>
                </a:solidFill>
                <a:latin typeface="Calibri"/>
                <a:ea typeface="Calibri"/>
                <a:cs typeface="Calibri"/>
              </a:rPr>
              <a:t>Block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4645152"/>
            <a:ext cx="2212848" cy="1627632"/>
          </a:xfrm>
          <a:prstGeom prst="roundRect">
            <a:avLst>
              <a:gd name="adj" fmla="val 10000"/>
            </a:avLst>
          </a:prstGeom>
          <a:solidFill>
            <a:srgbClr val="FB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New payer relationship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600" b="1" i="0">
                <a:solidFill>
                  <a:srgbClr val="8F5E0C"/>
                </a:solidFill>
                <a:latin typeface="Calibri"/>
                <a:ea typeface="Calibri"/>
                <a:cs typeface="Calibri"/>
              </a:rPr>
              <a:t>Hold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4645152"/>
            <a:ext cx="2212848" cy="1627632"/>
          </a:xfrm>
          <a:prstGeom prst="roundRect">
            <a:avLst>
              <a:gd name="adj" fmla="val 10000"/>
            </a:avLst>
          </a:prstGeom>
          <a:solidFill>
            <a:srgbClr val="FB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Origin or lane shift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600" b="1" i="0">
                <a:solidFill>
                  <a:srgbClr val="8F5E0C"/>
                </a:solidFill>
                <a:latin typeface="Calibri"/>
                <a:ea typeface="Calibri"/>
                <a:cs typeface="Calibri"/>
              </a:rPr>
              <a:t>Hold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51776" y="4645152"/>
            <a:ext cx="2212848" cy="1627632"/>
          </a:xfrm>
          <a:prstGeom prst="roundRect">
            <a:avLst>
              <a:gd name="adj" fmla="val 10000"/>
            </a:avLst>
          </a:prstGeom>
          <a:solidFill>
            <a:srgbClr val="FB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Velocity spike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600" b="1" i="0">
                <a:solidFill>
                  <a:srgbClr val="8F5E0C"/>
                </a:solidFill>
                <a:latin typeface="Calibri"/>
                <a:ea typeface="Calibri"/>
                <a:cs typeface="Calibri"/>
              </a:rPr>
              <a:t>Hold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56064" y="4645152"/>
            <a:ext cx="2212848" cy="1627632"/>
          </a:xfrm>
          <a:prstGeom prst="roundRect">
            <a:avLst>
              <a:gd name="adj" fmla="val 10000"/>
            </a:avLst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Guest, account not linked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600" b="1" i="0">
                <a:solidFill>
                  <a:srgbClr val="1A4A72"/>
                </a:solidFill>
                <a:latin typeface="Calibri"/>
                <a:ea typeface="Calibri"/>
                <a:cs typeface="Calibri"/>
              </a:rPr>
              <a:t>Step-up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2A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ACTIONS AND FALSE-POSITIVE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93776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Friction scales with how wrong the account looks.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51052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7B70"/>
                </a:solidFill>
                <a:latin typeface="Calibri"/>
                <a:ea typeface="Calibri"/>
                <a:cs typeface="Calibri"/>
              </a:rPr>
              <a:t>Booking-time fraud detection  ·  Round 1 idea &amp; solution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7B70"/>
                </a:solidFill>
                <a:latin typeface="Calibri"/>
                <a:ea typeface="Calibri"/>
                <a:cs typeface="Calibri"/>
              </a:rPr>
              <a:t>08  /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353312"/>
            <a:ext cx="56692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Per account, not global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3A312B"/>
                </a:solidFill>
                <a:latin typeface="Calibri"/>
                <a:ea typeface="Calibri"/>
                <a:cs typeface="Calibri"/>
              </a:rPr>
              <a:t>An exporter who always sends worldwide express is normal for that account.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517904"/>
            <a:ext cx="64008" cy="1499616"/>
          </a:xfrm>
          <a:prstGeom prst="rect">
            <a:avLst/>
          </a:prstGeom>
          <a:solidFill>
            <a:srgbClr val="E2A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91072" y="1353312"/>
            <a:ext cx="56692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Thin history is a step-up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3A312B"/>
                </a:solidFill>
                <a:latin typeface="Calibri"/>
                <a:ea typeface="Calibri"/>
                <a:cs typeface="Calibri"/>
              </a:rPr>
              <a:t>A new account has no baseline. Missing history is not treated as an anomaly.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517904"/>
            <a:ext cx="64008" cy="1499616"/>
          </a:xfrm>
          <a:prstGeom prst="rect">
            <a:avLst/>
          </a:prstGeom>
          <a:solidFill>
            <a:srgbClr val="E2A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" y="3319272"/>
            <a:ext cx="56692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Block is policy, not a score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3A312B"/>
                </a:solidFill>
                <a:latin typeface="Calibri"/>
                <a:ea typeface="Calibri"/>
                <a:cs typeface="Calibri"/>
              </a:rPr>
              <a:t>Auto-block is the deny-list or a closed account. A high score holds for a person.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3483864"/>
            <a:ext cx="64008" cy="1499616"/>
          </a:xfrm>
          <a:prstGeom prst="rect">
            <a:avLst/>
          </a:prstGeom>
          <a:solidFill>
            <a:srgbClr val="E2A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91072" y="3319272"/>
            <a:ext cx="56692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Step-up reuses a known proof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3A312B"/>
                </a:solidFill>
                <a:latin typeface="Calibri"/>
                <a:ea typeface="Calibri"/>
                <a:cs typeface="Calibri"/>
              </a:rPr>
              <a:t>Account postal code plus a figure from a recent invoice — the same proof used to link an account today.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82512" y="3483864"/>
            <a:ext cx="64008" cy="1499616"/>
          </a:xfrm>
          <a:prstGeom prst="rect">
            <a:avLst/>
          </a:prstGeom>
          <a:solidFill>
            <a:srgbClr val="E2A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2A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FEASIBILITY AND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93776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The first release logs the decision and stops nobody.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51052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7B70"/>
                </a:solidFill>
                <a:latin typeface="Calibri"/>
                <a:ea typeface="Calibri"/>
                <a:cs typeface="Calibri"/>
              </a:rPr>
              <a:t>Booking-time fraud detection  ·  Round 1 idea &amp; solution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7B70"/>
                </a:solidFill>
                <a:latin typeface="Calibri"/>
                <a:ea typeface="Calibri"/>
                <a:cs typeface="Calibri"/>
              </a:rPr>
              <a:t>09  /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37160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A1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2A31B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" y="1554480"/>
            <a:ext cx="2331720" cy="41148"/>
          </a:xfrm>
          <a:prstGeom prst="rect">
            <a:avLst/>
          </a:prstGeom>
          <a:solidFill>
            <a:srgbClr val="E0D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920240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Shadow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286000"/>
            <a:ext cx="274320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12B"/>
                </a:solidFill>
                <a:latin typeface="Calibri"/>
                <a:ea typeface="Calibri"/>
                <a:cs typeface="Calibri"/>
              </a:rPr>
              <a:t>Web confirm calls the API. Five rules. Full audit row. The shipper sees no change.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137160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A1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2A31B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67912" y="1554480"/>
            <a:ext cx="2331720" cy="41148"/>
          </a:xfrm>
          <a:prstGeom prst="rect">
            <a:avLst/>
          </a:prstGeom>
          <a:solidFill>
            <a:srgbClr val="E0D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2" y="1920240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2286000"/>
            <a:ext cx="274320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12B"/>
                </a:solidFill>
                <a:latin typeface="Calibri"/>
                <a:ea typeface="Calibri"/>
                <a:cs typeface="Calibri"/>
              </a:rPr>
              <a:t>Step-up and same-day hold go live. Block only on the deny-list and closed accounts.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137160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A1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2A31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93992" y="1554480"/>
            <a:ext cx="2331720" cy="41148"/>
          </a:xfrm>
          <a:prstGeom prst="rect">
            <a:avLst/>
          </a:prstGeom>
          <a:solidFill>
            <a:srgbClr val="E0D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1920240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Learn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286000"/>
            <a:ext cx="274320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12B"/>
                </a:solidFill>
                <a:latin typeface="Calibri"/>
                <a:ea typeface="Calibri"/>
                <a:cs typeface="Calibri"/>
              </a:rPr>
              <a:t>Model trained on disputes and analyst outcomes. GenAI brief on the same decision id.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17152" y="137160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A1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2A31B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1920240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Extend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2286000"/>
            <a:ext cx="274320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12B"/>
                </a:solidFill>
                <a:latin typeface="Calibri"/>
                <a:ea typeface="Calibri"/>
                <a:cs typeface="Calibri"/>
              </a:rPr>
              <a:t>The same call on the Shipping API, WorldShip, CampusShip, and mobile.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3794760"/>
            <a:ext cx="7452360" cy="2468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THREE FEEDS, THEN THE PILOT IS REAL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500" b="0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Account master, including inbound-charge preferences.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90-day shipment history, keyed by the billed account.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Billing disputes — the label that grades the shadow decisions.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794760"/>
            <a:ext cx="3703320" cy="2468880"/>
          </a:xfrm>
          <a:prstGeom prst="roundRect">
            <a:avLst>
              <a:gd name="adj" fmla="val 7000"/>
            </a:avLst>
          </a:prstGeom>
          <a:solidFill>
            <a:srgbClr val="2A1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2A31B"/>
                </a:solidFill>
                <a:latin typeface="Calibri"/>
                <a:ea typeface="Calibri"/>
                <a:cs typeface="Calibri"/>
              </a:rPr>
              <a:t>LEFT FOR LATER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500" b="0" i="0">
                <a:solidFill>
                  <a:srgbClr val="F7F1E8"/>
                </a:solidFill>
                <a:latin typeface="Calibri"/>
                <a:ea typeface="Calibri"/>
                <a:cs typeface="Calibri"/>
              </a:rPr>
              <a:t>Card-paid guest shipments.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F7F1E8"/>
                </a:solidFill>
                <a:latin typeface="Calibri"/>
                <a:ea typeface="Calibri"/>
                <a:cs typeface="Calibri"/>
              </a:rPr>
              <a:t>A dashboard before decisions and dispute joins exist.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F7F1E8"/>
                </a:solidFill>
                <a:latin typeface="Calibri"/>
                <a:ea typeface="Calibri"/>
                <a:cs typeface="Calibri"/>
              </a:rPr>
              <a:t>Account-takeover device signals. Same API, second pattern.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A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2A31B"/>
                </a:solidFill>
                <a:latin typeface="Calibri"/>
                <a:ea typeface="Calibri"/>
                <a:cs typeface="Calibri"/>
              </a:rPr>
              <a:t>EXPECTED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7F1E8"/>
                </a:solidFill>
                <a:latin typeface="Calibri"/>
                <a:ea typeface="Calibri"/>
                <a:cs typeface="Calibri"/>
              </a:rPr>
              <a:t>A prevented shipment never enters the network.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2743200" cy="2148840"/>
          </a:xfrm>
          <a:prstGeom prst="roundRect">
            <a:avLst>
              <a:gd name="adj" fmla="val 10000"/>
            </a:avLst>
          </a:prstGeom>
          <a:solidFill>
            <a:srgbClr val="3A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2A31B"/>
                </a:solidFill>
                <a:latin typeface="Calibri"/>
                <a:ea typeface="Calibri"/>
                <a:cs typeface="Calibri"/>
              </a:rPr>
              <a:t>Revenue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F3E6D6"/>
                </a:solidFill>
                <a:latin typeface="Calibri"/>
                <a:ea typeface="Calibri"/>
                <a:cs typeface="Calibri"/>
              </a:rPr>
              <a:t>The charge is never invoiced, so it never has to be reversed.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554480"/>
            <a:ext cx="2743200" cy="2148840"/>
          </a:xfrm>
          <a:prstGeom prst="roundRect">
            <a:avLst>
              <a:gd name="adj" fmla="val 10000"/>
            </a:avLst>
          </a:prstGeom>
          <a:solidFill>
            <a:srgbClr val="3A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2A31B"/>
                </a:solidFill>
                <a:latin typeface="Calibri"/>
                <a:ea typeface="Calibri"/>
                <a:cs typeface="Calibri"/>
              </a:rPr>
              <a:t>Operating cost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F3E6D6"/>
                </a:solidFill>
                <a:latin typeface="Calibri"/>
                <a:ea typeface="Calibri"/>
                <a:cs typeface="Calibri"/>
              </a:rPr>
              <a:t>No pickup, linehaul, sort, or delivery for that booking.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2743200" cy="2148840"/>
          </a:xfrm>
          <a:prstGeom prst="roundRect">
            <a:avLst>
              <a:gd name="adj" fmla="val 10000"/>
            </a:avLst>
          </a:prstGeom>
          <a:solidFill>
            <a:srgbClr val="3A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2A31B"/>
                </a:solidFill>
                <a:latin typeface="Calibri"/>
                <a:ea typeface="Calibri"/>
                <a:cs typeface="Calibri"/>
              </a:rPr>
              <a:t>Shipper trust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F3E6D6"/>
                </a:solidFill>
                <a:latin typeface="Calibri"/>
                <a:ea typeface="Calibri"/>
                <a:cs typeface="Calibri"/>
              </a:rPr>
              <a:t>The legitimate account is not billed for a stranger’s package.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554480"/>
            <a:ext cx="2743200" cy="2148840"/>
          </a:xfrm>
          <a:prstGeom prst="roundRect">
            <a:avLst>
              <a:gd name="adj" fmla="val 10000"/>
            </a:avLst>
          </a:prstGeom>
          <a:solidFill>
            <a:srgbClr val="3A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2A31B"/>
                </a:solidFill>
                <a:latin typeface="Calibri"/>
                <a:ea typeface="Calibri"/>
                <a:cs typeface="Calibri"/>
              </a:rPr>
              <a:t>Investigation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F3E6D6"/>
                </a:solidFill>
                <a:latin typeface="Calibri"/>
                <a:ea typeface="Calibri"/>
                <a:cs typeface="Calibri"/>
              </a:rPr>
              <a:t>The analyst opens a reason, not a raw score.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86200"/>
            <a:ext cx="11201400" cy="2240280"/>
          </a:xfrm>
          <a:prstGeom prst="roundRect">
            <a:avLst>
              <a:gd name="adj" fmla="val 6000"/>
            </a:avLst>
          </a:prstGeom>
          <a:solidFill>
            <a:srgbClr val="14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73152" bIns="73152"/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1" i="0">
                <a:solidFill>
                  <a:srgbClr val="E2A31B"/>
                </a:solidFill>
                <a:latin typeface="Calibri"/>
                <a:ea typeface="Calibri"/>
                <a:cs typeface="Calibri"/>
              </a:rPr>
              <a:t>HOW WE WILL KNOW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800" b="0" i="0">
                <a:solidFill>
                  <a:srgbClr val="F7F1E8"/>
                </a:solidFill>
                <a:latin typeface="Calibri"/>
                <a:ea typeface="Calibri"/>
                <a:cs typeface="Calibri"/>
              </a:rPr>
              <a:t>Of shipments later disputed, how many would this gate have held?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800" b="0" i="0">
                <a:solidFill>
                  <a:srgbClr val="F7F1E8"/>
                </a:solidFill>
                <a:latin typeface="Calibri"/>
                <a:ea typeface="Calibri"/>
                <a:cs typeface="Calibri"/>
              </a:rPr>
              <a:t>Of shipments never disputed, how many would it have held?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E4D5C4"/>
                </a:solidFill>
                <a:latin typeface="Calibri"/>
                <a:ea typeface="Calibri"/>
                <a:cs typeface="Calibri"/>
              </a:rPr>
              <a:t>Rupees saved are counted only after a review confirms the hold was fraud.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651052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9888"/>
                </a:solidFill>
                <a:latin typeface="Calibri"/>
                <a:ea typeface="Calibri"/>
                <a:cs typeface="Calibri"/>
              </a:rPr>
              <a:t>Booking-time fraud detection  ·  Round 1 idea &amp; solution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10528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9888"/>
                </a:solidFill>
                <a:latin typeface="Calibri"/>
                <a:ea typeface="Calibri"/>
                <a:cs typeface="Calibri"/>
              </a:rPr>
              <a:t>10  /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2A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APPENDIX  ·  FLIP HERE ONLY IF ASKED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93776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Short answers for the three minutes.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51052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7B70"/>
                </a:solidFill>
                <a:latin typeface="Calibri"/>
                <a:ea typeface="Calibri"/>
                <a:cs typeface="Calibri"/>
              </a:rPr>
              <a:t>Booking-time fraud detection  ·  Round 1 idea &amp; solution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510528"/>
            <a:ext cx="19659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C5E10"/>
                </a:solidFill>
                <a:latin typeface="Calibri"/>
                <a:ea typeface="Calibri"/>
                <a:cs typeface="Calibri"/>
              </a:rPr>
              <a:t>Appendix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353312"/>
            <a:ext cx="566928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Why not let the LLM decide?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3A312B"/>
                </a:solidFill>
                <a:latin typeface="Calibri"/>
                <a:ea typeface="Calibri"/>
                <a:cs typeface="Calibri"/>
              </a:rPr>
              <a:t>It is slow, it can change its answer, and it is weak in an audit. Rules decide. The note explains the codes.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1353312"/>
            <a:ext cx="566928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Why not an anomaly model now?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3A312B"/>
                </a:solidFill>
                <a:latin typeface="Calibri"/>
                <a:ea typeface="Calibri"/>
                <a:cs typeface="Calibri"/>
              </a:rPr>
              <a:t>Dispute labels do not exist yet. A network-wide anomaly flags busy legitimate shippers.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999232"/>
            <a:ext cx="566928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How is this different from the inbound deny-list?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3A312B"/>
                </a:solidFill>
                <a:latin typeface="Calibri"/>
                <a:ea typeface="Calibri"/>
                <a:cs typeface="Calibri"/>
              </a:rPr>
              <a:t>That list is an input. We also catch a booking that uses a valid account in a lane that account has never shipped.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2999232"/>
            <a:ext cx="566928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What if the risk service is down?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3A312B"/>
                </a:solidFill>
                <a:latin typeface="Calibri"/>
                <a:ea typeface="Calibri"/>
                <a:cs typeface="Calibri"/>
              </a:rPr>
              <a:t>In shadow, fail open and log it. Once live, an account-billed confirm with no answer is a hold, not a label.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4645152"/>
            <a:ext cx="566928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What about a new account?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3A312B"/>
                </a:solidFill>
                <a:latin typeface="Calibri"/>
                <a:ea typeface="Calibri"/>
                <a:cs typeface="Calibri"/>
              </a:rPr>
              <a:t>No baseline, so no behavioral block. Step-up or explicit policy only. Thin history is not fraud.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4645152"/>
            <a:ext cx="566928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410"/>
                </a:solidFill>
                <a:latin typeface="Calibri"/>
                <a:ea typeface="Calibri"/>
                <a:cs typeface="Calibri"/>
              </a:rPr>
              <a:t>Where do the labels come from?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3A312B"/>
                </a:solidFill>
                <a:latin typeface="Calibri"/>
                <a:ea typeface="Calibri"/>
                <a:cs typeface="Calibri"/>
              </a:rPr>
              <a:t>Billing disputes — “I did not ship this” — joined back to the decision on the booking session id.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Stop the shipment before the label exists</dc:title>
  <dc:subject>Round 1 — Idea and solution design review — 3 October 2026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UPS Logistics booking fraud detection</cp:category>
</cp:coreProperties>
</file>